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7" r:id="rId4"/>
  </p:sldMasterIdLst>
  <p:notesMasterIdLst>
    <p:notesMasterId r:id="rId19"/>
  </p:notesMasterIdLst>
  <p:handoutMasterIdLst>
    <p:handoutMasterId r:id="rId20"/>
  </p:handoutMasterIdLst>
  <p:sldIdLst>
    <p:sldId id="410" r:id="rId5"/>
    <p:sldId id="420" r:id="rId6"/>
    <p:sldId id="424" r:id="rId7"/>
    <p:sldId id="412" r:id="rId8"/>
    <p:sldId id="416" r:id="rId9"/>
    <p:sldId id="417" r:id="rId10"/>
    <p:sldId id="425" r:id="rId11"/>
    <p:sldId id="430" r:id="rId12"/>
    <p:sldId id="428" r:id="rId13"/>
    <p:sldId id="426" r:id="rId14"/>
    <p:sldId id="427" r:id="rId15"/>
    <p:sldId id="422" r:id="rId16"/>
    <p:sldId id="423" r:id="rId17"/>
    <p:sldId id="41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D24AFA-79C0-407B-B99F-D77264CD0261}">
          <p14:sldIdLst>
            <p14:sldId id="410"/>
            <p14:sldId id="420"/>
            <p14:sldId id="424"/>
            <p14:sldId id="412"/>
            <p14:sldId id="416"/>
            <p14:sldId id="417"/>
            <p14:sldId id="425"/>
            <p14:sldId id="430"/>
            <p14:sldId id="428"/>
            <p14:sldId id="426"/>
            <p14:sldId id="427"/>
            <p14:sldId id="422"/>
            <p14:sldId id="423"/>
            <p14:sldId id="41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2857" autoAdjust="0"/>
  </p:normalViewPr>
  <p:slideViewPr>
    <p:cSldViewPr snapToGrid="0">
      <p:cViewPr varScale="1">
        <p:scale>
          <a:sx n="76" d="100"/>
          <a:sy n="76" d="100"/>
        </p:scale>
        <p:origin x="85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shalprimal@gmail.com" userId="cc93660ec1596464" providerId="LiveId" clId="{B81605E3-4B4A-4095-A3F9-60C1B40DEFA4}"/>
    <pc:docChg chg="custSel modSld">
      <pc:chgData name="kushalprimal@gmail.com" userId="cc93660ec1596464" providerId="LiveId" clId="{B81605E3-4B4A-4095-A3F9-60C1B40DEFA4}" dt="2026-01-03T03:02:00.945" v="50" actId="1076"/>
      <pc:docMkLst>
        <pc:docMk/>
      </pc:docMkLst>
      <pc:sldChg chg="modSp mod">
        <pc:chgData name="kushalprimal@gmail.com" userId="cc93660ec1596464" providerId="LiveId" clId="{B81605E3-4B4A-4095-A3F9-60C1B40DEFA4}" dt="2026-01-03T03:02:00.945" v="50" actId="1076"/>
        <pc:sldMkLst>
          <pc:docMk/>
          <pc:sldMk cId="3390304222" sldId="410"/>
        </pc:sldMkLst>
        <pc:spChg chg="mod">
          <ac:chgData name="kushalprimal@gmail.com" userId="cc93660ec1596464" providerId="LiveId" clId="{B81605E3-4B4A-4095-A3F9-60C1B40DEFA4}" dt="2026-01-03T03:02:00.945" v="50" actId="1076"/>
          <ac:spMkLst>
            <pc:docMk/>
            <pc:sldMk cId="3390304222" sldId="410"/>
            <ac:spMk id="4" creationId="{79EDA65B-349F-74DF-13B6-94F42236FC06}"/>
          </ac:spMkLst>
        </pc:spChg>
      </pc:sldChg>
      <pc:sldChg chg="modSp mod">
        <pc:chgData name="kushalprimal@gmail.com" userId="cc93660ec1596464" providerId="LiveId" clId="{B81605E3-4B4A-4095-A3F9-60C1B40DEFA4}" dt="2026-01-03T02:50:52.422" v="24" actId="20577"/>
        <pc:sldMkLst>
          <pc:docMk/>
          <pc:sldMk cId="1452778108" sldId="417"/>
        </pc:sldMkLst>
        <pc:spChg chg="mod">
          <ac:chgData name="kushalprimal@gmail.com" userId="cc93660ec1596464" providerId="LiveId" clId="{B81605E3-4B4A-4095-A3F9-60C1B40DEFA4}" dt="2026-01-03T02:50:52.422" v="24" actId="20577"/>
          <ac:spMkLst>
            <pc:docMk/>
            <pc:sldMk cId="1452778108" sldId="417"/>
            <ac:spMk id="5" creationId="{99FC64F2-FD82-26F4-CF6E-2B82B14FF7B8}"/>
          </ac:spMkLst>
        </pc:spChg>
      </pc:sldChg>
      <pc:sldChg chg="delSp modSp mod">
        <pc:chgData name="kushalprimal@gmail.com" userId="cc93660ec1596464" providerId="LiveId" clId="{B81605E3-4B4A-4095-A3F9-60C1B40DEFA4}" dt="2026-01-02T17:11:48.890" v="13" actId="1076"/>
        <pc:sldMkLst>
          <pc:docMk/>
          <pc:sldMk cId="1378968992" sldId="419"/>
        </pc:sldMkLst>
        <pc:spChg chg="mod">
          <ac:chgData name="kushalprimal@gmail.com" userId="cc93660ec1596464" providerId="LiveId" clId="{B81605E3-4B4A-4095-A3F9-60C1B40DEFA4}" dt="2026-01-02T17:11:48.890" v="13" actId="1076"/>
          <ac:spMkLst>
            <pc:docMk/>
            <pc:sldMk cId="1378968992" sldId="419"/>
            <ac:spMk id="2" creationId="{862B5B2C-930D-3A96-801B-BD85AAB36A8C}"/>
          </ac:spMkLst>
        </pc:spChg>
        <pc:spChg chg="del mod">
          <ac:chgData name="kushalprimal@gmail.com" userId="cc93660ec1596464" providerId="LiveId" clId="{B81605E3-4B4A-4095-A3F9-60C1B40DEFA4}" dt="2026-01-02T17:11:45.647" v="12" actId="478"/>
          <ac:spMkLst>
            <pc:docMk/>
            <pc:sldMk cId="1378968992" sldId="419"/>
            <ac:spMk id="3" creationId="{37C90B2C-1B1D-6282-933C-421905B9B3C2}"/>
          </ac:spMkLst>
        </pc:spChg>
      </pc:sldChg>
      <pc:sldChg chg="modSp mod">
        <pc:chgData name="kushalprimal@gmail.com" userId="cc93660ec1596464" providerId="LiveId" clId="{B81605E3-4B4A-4095-A3F9-60C1B40DEFA4}" dt="2026-01-03T02:53:13.718" v="49" actId="20577"/>
        <pc:sldMkLst>
          <pc:docMk/>
          <pc:sldMk cId="889540485" sldId="422"/>
        </pc:sldMkLst>
        <pc:spChg chg="mod">
          <ac:chgData name="kushalprimal@gmail.com" userId="cc93660ec1596464" providerId="LiveId" clId="{B81605E3-4B4A-4095-A3F9-60C1B40DEFA4}" dt="2026-01-03T02:53:13.718" v="49" actId="20577"/>
          <ac:spMkLst>
            <pc:docMk/>
            <pc:sldMk cId="889540485" sldId="422"/>
            <ac:spMk id="3" creationId="{E99705FF-CADA-8D36-FBDA-2476D6A6DB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9F84-8D2B-0159-7913-D0A4739F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85431-F3C5-4191-134B-B6AC6855E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EE36B-3B68-1EB5-2D1C-A1271FDFF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B3A98-9BE0-608F-4DDC-C4D958EF9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045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0A8D-9A37-3D47-9734-30F438E0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D30CA-F0F9-26D0-8BCD-2A9CB7460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DE06F-6F62-D242-751E-4D318CEFE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92214-AE95-8EDE-85A2-30359DCA3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447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8EEF3-6652-8850-0F5A-ABF242794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EE482-0F6B-C620-F05B-4E93EF9C0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7782B-B885-0609-268D-FFA4CEB8D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Missed Vaccinations: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Manual record-keeping often leads to lost or damaged vaccination cards, causing children to miss important doses and remain vulnerable to diseases.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Lack of Centralized Records: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no national digital database, healthcare providers cannot easily access a child’s vaccination history, especially when families move or visit different health centers.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Gaps: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Parents are not always reminded about upcoming doses, and healthcare workers have no efficient way to follow up, leading to delays or incomplete immunization.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Digital Access in Rural Areas: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Families in remote locations often lack timely access to child health information, making it harder to track vaccinations.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 for a Digital 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accessible, centralized, and secure vaccination tracker is essential to improve communication, reduce missed doses, and support government health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B5B84-B141-06F2-D5D8-8726B80E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404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C7BE-1438-C9DF-968E-0438FBCB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C4CEB-EFB9-137E-480E-677D8384C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FE117-426C-6A03-7D9E-8C35EDE0B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A9C34-DFEC-3D5D-A45D-93BAAB4D2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822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78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DBAB-7F8C-4F11-063A-489875DC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60F5E-1B86-0102-8FD4-D47C1C6D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6860C-9707-7560-A0EE-5F726D00F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23F8-2B4C-9578-5F19-9FD51ED2E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797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B5FF-1986-328F-B437-9DDE3084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4FF7D-8B30-FF8B-FB65-B8DE6F9D0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62BA6-9978-2E35-8E22-20AFEA39C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A45C7-DDAB-EACC-F9F2-48D72E38F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31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1D842-4608-E01B-EC37-BF2C1713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8C0D4-935B-3A7F-D940-F6EC6E51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A407E-9B42-B0FD-A5CF-D72DFBE77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DBDE2-43E8-D191-3110-0FC4206F3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38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DD45-AD3A-C1B4-7CEE-821EA7DE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E3566-313E-DB83-ABDC-AF5DF3930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DBA6C-D125-5A62-9B56-89CE70769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FA530-7174-B487-C6F7-9EB0CC405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745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D5F2-ADFA-D6BC-F752-F7EB7124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9E3CF-7C5B-4A31-3934-1989E4CB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842F0-7E90-615B-25DB-D46C9D68C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BE5C-5DA4-9AC6-5B99-B72571777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967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2D27-AD99-C803-3B91-4CD3B146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C9EED-8A05-BAA5-7296-7B41D7B8C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266CA-0AA5-01D7-64C4-AC87796CA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0821E-4331-C3AC-FC15-469F77438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557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3FE4-256F-F50B-0401-8D58C538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54DD2-04F2-AB47-D738-D9617B276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6331D-02DE-3459-EE00-89BDD3979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08E70-05C6-B54F-8409-FD8742FF2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899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FBD0-9A9F-49D2-7032-A5D44BF0C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90F9C-6D10-2E43-6DA9-FD803FC6F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5AEB6-DEE4-372C-C123-6E4A3659F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F0313-D6F3-AA76-2BD5-48E0644A8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704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76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66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98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42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08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61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438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91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62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018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55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990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98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878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7667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17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26" r:id="rId15"/>
    <p:sldLayoutId id="2147483710" r:id="rId16"/>
    <p:sldLayoutId id="2147483700" r:id="rId17"/>
    <p:sldLayoutId id="2147483659" r:id="rId18"/>
    <p:sldLayoutId id="2147483709" r:id="rId19"/>
    <p:sldLayoutId id="2147483708" r:id="rId20"/>
    <p:sldLayoutId id="2147483707" r:id="rId21"/>
    <p:sldLayoutId id="2147483706" r:id="rId22"/>
    <p:sldLayoutId id="2147483705" r:id="rId23"/>
    <p:sldLayoutId id="2147483704" r:id="rId24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1750" y="938744"/>
            <a:ext cx="9396118" cy="2196342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Blood Bank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DDF4E-D309-1D78-404F-93A81F8F6ED9}"/>
              </a:ext>
            </a:extLst>
          </p:cNvPr>
          <p:cNvSpPr txBox="1"/>
          <p:nvPr/>
        </p:nvSpPr>
        <p:spPr>
          <a:xfrm>
            <a:off x="6181106" y="4239491"/>
            <a:ext cx="5237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DA65B-349F-74DF-13B6-94F42236FC06}"/>
              </a:ext>
            </a:extLst>
          </p:cNvPr>
          <p:cNvSpPr txBox="1"/>
          <p:nvPr/>
        </p:nvSpPr>
        <p:spPr>
          <a:xfrm>
            <a:off x="6569795" y="4198384"/>
            <a:ext cx="5159829" cy="1562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Anish Kumar Goit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Dinesh Rimal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Kusal Rimal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D49-6FAF-769B-46F8-87BCCF1C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5CDE89-BA7F-F77D-5D70-2A337454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DFAB7C-2FA0-2E39-7DB2-C7F43A3D1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5257398" cy="35478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dirty="0"/>
              <a:t>Introduction</a:t>
            </a:r>
          </a:p>
          <a:p>
            <a:r>
              <a:rPr lang="en-US" sz="2200" dirty="0"/>
              <a:t>Problem Statement</a:t>
            </a:r>
          </a:p>
          <a:p>
            <a:r>
              <a:rPr lang="en-US" sz="2200" dirty="0"/>
              <a:t>Objectives</a:t>
            </a:r>
          </a:p>
          <a:p>
            <a:r>
              <a:rPr lang="en-US" sz="2200" dirty="0"/>
              <a:t>Features</a:t>
            </a:r>
          </a:p>
          <a:p>
            <a:r>
              <a:rPr lang="en-US" sz="2200" dirty="0"/>
              <a:t>Diagram</a:t>
            </a:r>
          </a:p>
          <a:p>
            <a:r>
              <a:rPr lang="en-US" sz="2200" dirty="0"/>
              <a:t>Gantt Chart</a:t>
            </a:r>
          </a:p>
          <a:p>
            <a:r>
              <a:rPr lang="en-US" sz="2200" dirty="0"/>
              <a:t>Platform and Tools</a:t>
            </a:r>
          </a:p>
          <a:p>
            <a:r>
              <a:rPr lang="en-US" sz="2200" dirty="0"/>
              <a:t>Conclusion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539CB5-FC2E-F2F1-08D5-5C407A8A1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6867154" y="640080"/>
            <a:ext cx="5458967" cy="5458967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FBA9E74-41C8-80B6-3780-7506666F3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B39AF84-0DEB-936C-3795-0A6D08B2B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C59999F-2502-C5A1-5EE4-A037D06D4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828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687A4-C93C-3EDF-986C-FCD5C2C7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0B352-0F47-352A-99EA-84C28BD23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70" y="529177"/>
            <a:ext cx="5598194" cy="1080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22FD9C-D3F6-BAAF-9FB2-BB3F8FA5A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8661679" y="984738"/>
            <a:ext cx="3539466" cy="5173745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64CDA6-E97A-30D6-7BBC-6E20D82B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F60AE56-1391-CBEB-A2F8-ACB07B5DC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DF8FD87-6F05-320F-7586-02FC2373E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1B734F32-9683-4A72-8942-72B3DBA5AF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527" y="2379307"/>
            <a:ext cx="7695363" cy="3363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Blood Bank Management System helps manage blood inventory, donor information, and blood transfer requests.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organizes blood inventory and donor data efficiently.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Blood donation management and ensuring blood availability can be complex. The system streamlines these processes for easier and more effective blood bank operations.</a:t>
            </a:r>
          </a:p>
        </p:txBody>
      </p:sp>
    </p:spTree>
    <p:extLst>
      <p:ext uri="{BB962C8B-B14F-4D97-AF65-F5344CB8AC3E}">
        <p14:creationId xmlns:p14="http://schemas.microsoft.com/office/powerpoint/2010/main" val="1432371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7EE32-7836-2B77-D782-4741C01D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5CEABA-F756-40C1-44AA-49509827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6E6098-388E-96C5-2BF1-948863CDD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039815"/>
            <a:ext cx="6150864" cy="4507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marR="0" lvl="0" indent="-22860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2200" b="1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52CD06-70D5-F2A1-2E31-F1D3D0C8A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7204276" y="510896"/>
            <a:ext cx="5458967" cy="5458969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A387278-0A28-98BD-AFEC-D056E56FA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B994EB2-1086-7496-276E-AECB19424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5A0DE72-6B4A-ABD8-943F-B4B3F0837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A1B466B0-FFEE-00C0-6C35-58BAE398A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762" y="3069467"/>
            <a:ext cx="6150864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Manual Record-Keeping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Lack of Centralized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Inefficient Inventory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Limited Donor Engagement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731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01931-4D5E-3D8C-77D5-9457E018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716A41-D109-4782-859D-99DC3D3A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24" y="107518"/>
            <a:ext cx="4560221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Objectives: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51909D-3986-EE73-95DE-7787BB39E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024" y="1899037"/>
            <a:ext cx="6505427" cy="30599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To develop a simple and efficient Blood Bank Management System using Java and MySQL for managing donor details and blood inventory. </a:t>
            </a:r>
            <a:r>
              <a:rPr lang="en-US" sz="2800" dirty="0"/>
              <a:t> for recording and managing child vaccination data.</a:t>
            </a:r>
            <a:br>
              <a:rPr lang="en-US" sz="2600" dirty="0">
                <a:effectLst/>
              </a:rPr>
            </a:br>
            <a:br>
              <a:rPr lang="en-US" sz="1200" dirty="0">
                <a:effectLst/>
              </a:rPr>
            </a:br>
            <a:endParaRPr lang="en-US" sz="12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08D69D-57BB-2E5A-97DF-C467C61B0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>
            <a:off x="6742178" y="1000064"/>
            <a:ext cx="5458967" cy="5458969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FED3A03-0278-8398-0B83-72CC34373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168DDA7-1B42-373F-ABCC-2E1203EDA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A6FDAA9-E349-8750-E6D7-FADA7ECEB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3855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C597-37B6-D97D-9E98-D34BFA0A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Features: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13F850-8A5B-E2B5-3650-552137063DB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100000"/>
              </a:lnSpc>
            </a:pPr>
            <a:endParaRPr lang="en-US" sz="1800" b="0" dirty="0">
              <a:effectLst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effectLst/>
              <a:ea typeface="Calibri" panose="020F0502020204030204" pitchFamily="34" charset="0"/>
            </a:endParaRPr>
          </a:p>
          <a:p>
            <a:pPr marL="0" marR="0" lvl="0" indent="0" algn="just">
              <a:lnSpc>
                <a:spcPct val="150000"/>
              </a:lnSpc>
              <a:buNone/>
            </a:pPr>
            <a:endParaRPr lang="en-US" sz="1800" dirty="0">
              <a:ea typeface="Calibri" panose="020F0502020204030204" pitchFamily="34" charset="0"/>
            </a:endParaRPr>
          </a:p>
          <a:p>
            <a:pPr marR="0" lvl="0" algn="just">
              <a:lnSpc>
                <a:spcPct val="150000"/>
              </a:lnSpc>
            </a:pPr>
            <a:endParaRPr lang="en-US" sz="1800" b="0" dirty="0">
              <a:effectLst/>
              <a:ea typeface="Calibri" panose="020F050202020403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FC64F2-FD82-26F4-CF6E-2B82B14FF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789" y="2501003"/>
            <a:ext cx="11260757" cy="447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Donor Management:</a:t>
            </a:r>
            <a:r>
              <a:rPr lang="en-AU" dirty="0"/>
              <a:t> Add, update, view, and track donor details and donation history.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Blood Inventory Management:</a:t>
            </a:r>
            <a:r>
              <a:rPr lang="en-AU" dirty="0"/>
              <a:t> Monitor blood stock levels, types, and expiry dates.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Blood Stock Statistics:</a:t>
            </a:r>
            <a:r>
              <a:rPr lang="en-AU" dirty="0"/>
              <a:t> Track increases and decreases in blood units over time.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Blood Request &amp; Distribution:</a:t>
            </a:r>
            <a:r>
              <a:rPr lang="en-AU" dirty="0"/>
              <a:t> Process hospital requests and prioritize emergency needs.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User Authentication &amp; Security:</a:t>
            </a:r>
            <a:r>
              <a:rPr lang="en-AU" dirty="0"/>
              <a:t> Secure login and role-based access for authorized users.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Reporting &amp; Analytics:</a:t>
            </a:r>
            <a:r>
              <a:rPr lang="en-AU" dirty="0"/>
              <a:t> Generate reports on donations, inventory, and distribution trends.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User-Friendly Interface:</a:t>
            </a:r>
            <a:r>
              <a:rPr lang="en-AU" dirty="0"/>
              <a:t> Easy navigation for admins.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/>
              <a:t>Donation </a:t>
            </a:r>
            <a:r>
              <a:rPr lang="en-AU" b="1" dirty="0" err="1"/>
              <a:t>Center</a:t>
            </a:r>
            <a:r>
              <a:rPr lang="en-AU" b="1" dirty="0"/>
              <a:t>: </a:t>
            </a:r>
            <a:r>
              <a:rPr lang="en-US" dirty="0"/>
              <a:t>Manage multiple blood donation centers, record collection details, and monitor blood availability at each center.</a:t>
            </a:r>
            <a:endParaRPr lang="en-A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778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E7E93-01C1-DFBB-3A83-697BAD23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C173-592F-3403-19B2-F3DC7A2F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DFD-0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4AA18-1159-8EFE-5226-31866F509875}"/>
              </a:ext>
            </a:extLst>
          </p:cNvPr>
          <p:cNvSpPr txBox="1"/>
          <p:nvPr/>
        </p:nvSpPr>
        <p:spPr>
          <a:xfrm>
            <a:off x="4979303" y="5370017"/>
            <a:ext cx="214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DFD-0</a:t>
            </a:r>
          </a:p>
        </p:txBody>
      </p:sp>
      <p:pic>
        <p:nvPicPr>
          <p:cNvPr id="4" name="Picture 3" descr="A diagram of blood bank management system&#10;&#10;AI-generated content may be incorrect.">
            <a:extLst>
              <a:ext uri="{FF2B5EF4-FFF2-40B4-BE49-F238E27FC236}">
                <a16:creationId xmlns:a16="http://schemas.microsoft.com/office/drawing/2014/main" id="{3336960A-FDB8-0726-509D-82CF92D00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18791"/>
            <a:ext cx="10058400" cy="316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91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D075-9769-EEB9-9D50-F707CA20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62D5-4C3A-5299-0485-9CAA4260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07D38-08C4-5009-F228-108768459BEF}"/>
              </a:ext>
            </a:extLst>
          </p:cNvPr>
          <p:cNvSpPr txBox="1"/>
          <p:nvPr/>
        </p:nvSpPr>
        <p:spPr>
          <a:xfrm>
            <a:off x="6672106" y="6292744"/>
            <a:ext cx="166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DFD-1</a:t>
            </a: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5E6DD923-5298-3A8D-8449-D4568A3A8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133" y="279614"/>
            <a:ext cx="6176328" cy="6019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036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39B6-830A-A6C6-CB72-96686637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AA5E-7EC3-62A6-FBD8-43F77DFA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36" y="287338"/>
            <a:ext cx="5770840" cy="1371600"/>
          </a:xfrm>
        </p:spPr>
        <p:txBody>
          <a:bodyPr anchor="b">
            <a:normAutofit/>
          </a:bodyPr>
          <a:lstStyle/>
          <a:p>
            <a:r>
              <a:rPr lang="en-US" dirty="0"/>
              <a:t>Use Case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71B26-3FB0-4242-8547-96A4DB31E083}"/>
              </a:ext>
            </a:extLst>
          </p:cNvPr>
          <p:cNvSpPr txBox="1"/>
          <p:nvPr/>
        </p:nvSpPr>
        <p:spPr>
          <a:xfrm>
            <a:off x="6013676" y="5997597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CCFCC8-5C8E-3CCC-1E7A-36106154B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307"/>
            <a:ext cx="6014720" cy="55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29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89C6-1E9D-4C96-92C9-2EDDCC1E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545D-E099-9AB3-9D2A-5579D05F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48" y="270805"/>
            <a:ext cx="4115864" cy="1371600"/>
          </a:xfrm>
        </p:spPr>
        <p:txBody>
          <a:bodyPr anchor="b">
            <a:normAutofit/>
          </a:bodyPr>
          <a:lstStyle/>
          <a:p>
            <a:r>
              <a:rPr lang="en-US" dirty="0"/>
              <a:t>E-R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31BE6-9546-E6FE-49D9-7767EDD04FFD}"/>
              </a:ext>
            </a:extLst>
          </p:cNvPr>
          <p:cNvSpPr txBox="1"/>
          <p:nvPr/>
        </p:nvSpPr>
        <p:spPr>
          <a:xfrm>
            <a:off x="3786803" y="5791002"/>
            <a:ext cx="6096000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Aft>
                <a:spcPts val="800"/>
              </a:spcAft>
            </a:pPr>
            <a:r>
              <a:rPr lang="en-US" sz="16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Fig: ER-Diagram</a:t>
            </a:r>
            <a:endParaRPr lang="en-US" sz="16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diagram of a donor&#10;&#10;AI-generated content may be incorrect.">
            <a:extLst>
              <a:ext uri="{FF2B5EF4-FFF2-40B4-BE49-F238E27FC236}">
                <a16:creationId xmlns:a16="http://schemas.microsoft.com/office/drawing/2014/main" id="{5170C060-E664-AA23-0F6D-EB1F40A58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2" y="406401"/>
            <a:ext cx="7019608" cy="59666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773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8676-34F8-5DA0-1E86-8EA73388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1495-BDF1-EF8B-1D86-6AC162F5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Gantt Chart</a:t>
            </a:r>
          </a:p>
        </p:txBody>
      </p:sp>
      <p:pic>
        <p:nvPicPr>
          <p:cNvPr id="4" name="Picture 3" descr="A graph on a white sheet&#10;&#10;AI-generated content may be incorrect.">
            <a:extLst>
              <a:ext uri="{FF2B5EF4-FFF2-40B4-BE49-F238E27FC236}">
                <a16:creationId xmlns:a16="http://schemas.microsoft.com/office/drawing/2014/main" id="{CBEE54B6-CFB7-E8CA-D944-4B0D50DC8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0" y="3013710"/>
            <a:ext cx="9632950" cy="2387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428EF6-341E-17FE-8EC1-B17EC3CCA3D0}"/>
              </a:ext>
            </a:extLst>
          </p:cNvPr>
          <p:cNvSpPr txBox="1"/>
          <p:nvPr/>
        </p:nvSpPr>
        <p:spPr>
          <a:xfrm>
            <a:off x="2240593" y="5842954"/>
            <a:ext cx="609704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Aft>
                <a:spcPts val="800"/>
              </a:spcAft>
            </a:pPr>
            <a:r>
              <a:rPr lang="en-US" sz="1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Fig: </a:t>
            </a:r>
            <a:r>
              <a:rPr lang="en-US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Gantt Chart</a:t>
            </a:r>
            <a:endParaRPr lang="en-US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94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4132-AB01-D831-FC38-64FD7E7B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9DFD-F957-8E04-4AB6-52B28E3D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Platform and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E38EE9-E438-EC1A-3C3E-A92FCF82F3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150000"/>
              </a:lnSpc>
            </a:pPr>
            <a:endParaRPr lang="en-US" sz="1800" dirty="0">
              <a:effectLst/>
              <a:ea typeface="Calibri" panose="020F0502020204030204" pitchFamily="34" charset="0"/>
            </a:endParaRPr>
          </a:p>
          <a:p>
            <a:pPr marL="0" marR="0" lvl="0" indent="0" algn="just">
              <a:lnSpc>
                <a:spcPct val="150000"/>
              </a:lnSpc>
              <a:buNone/>
            </a:pPr>
            <a:endParaRPr lang="en-US" sz="1800" dirty="0">
              <a:ea typeface="Calibri" panose="020F0502020204030204" pitchFamily="34" charset="0"/>
            </a:endParaRPr>
          </a:p>
          <a:p>
            <a:pPr marR="0" lvl="0" algn="just">
              <a:lnSpc>
                <a:spcPct val="150000"/>
              </a:lnSpc>
            </a:pPr>
            <a:endParaRPr lang="en-US" sz="1800" b="0" dirty="0">
              <a:effectLst/>
              <a:ea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99705FF-CADA-8D36-FBDA-2476D6A6D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137" y="2983916"/>
            <a:ext cx="5573027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Environment: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 Library: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iText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7</a:t>
            </a:r>
          </a:p>
        </p:txBody>
      </p:sp>
    </p:spTree>
    <p:extLst>
      <p:ext uri="{BB962C8B-B14F-4D97-AF65-F5344CB8AC3E}">
        <p14:creationId xmlns:p14="http://schemas.microsoft.com/office/powerpoint/2010/main" val="88954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7507-88E0-1858-1445-371091265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BBB7-DAA5-17F7-C462-C294379B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7AA676-B5DB-1062-059E-493AC5C886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150000"/>
              </a:lnSpc>
            </a:pPr>
            <a:endParaRPr lang="en-US" sz="1800" dirty="0">
              <a:effectLst/>
              <a:ea typeface="Calibri" panose="020F0502020204030204" pitchFamily="34" charset="0"/>
            </a:endParaRPr>
          </a:p>
          <a:p>
            <a:pPr marL="0" marR="0" lvl="0" indent="0" algn="just">
              <a:lnSpc>
                <a:spcPct val="150000"/>
              </a:lnSpc>
              <a:buNone/>
            </a:pPr>
            <a:endParaRPr lang="en-US" sz="1800" dirty="0">
              <a:ea typeface="Calibri" panose="020F0502020204030204" pitchFamily="34" charset="0"/>
            </a:endParaRPr>
          </a:p>
          <a:p>
            <a:pPr marR="0" lvl="0" algn="just">
              <a:lnSpc>
                <a:spcPct val="150000"/>
              </a:lnSpc>
            </a:pPr>
            <a:endParaRPr lang="en-US" sz="1800" b="0" dirty="0">
              <a:effectLst/>
              <a:ea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27BE2BC-D605-97DC-6813-45773439D2A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0718" y="2257667"/>
            <a:ext cx="10827326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Improved Efficiency: </a:t>
            </a:r>
            <a:r>
              <a:rPr lang="en-US" dirty="0"/>
              <a:t>The system streamlines blood bank operations, reducing manual paperwork and administrative overhead. This leads to improved efficiency in managing donor information and blood inventory.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Enhanced Admin Engagement: </a:t>
            </a:r>
            <a:r>
              <a:rPr lang="en-US" dirty="0"/>
              <a:t>By providing a user-friendly platform for admins to register and update donor information, the system promotes admin engagement contributing to a sustainable blood supply.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Data Accuracy: </a:t>
            </a:r>
            <a:r>
              <a:rPr lang="en-US" dirty="0"/>
              <a:t>The system ensures the accuracy and integrity of donor information, enabling healthcare professionals to make informed decisions regarding blood transfusions and patient care.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76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E7E6-BEC4-A0E1-7CE1-4545DF70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5B2C-930D-3A96-801B-BD85AAB3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268" y="3064247"/>
            <a:ext cx="10058400" cy="13716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5400" dirty="0">
                <a:solidFill>
                  <a:schemeClr val="bg2">
                    <a:lumMod val="10000"/>
                  </a:schemeClr>
                </a:solidFill>
              </a:rPr>
              <a:t>THANK YOU!!</a:t>
            </a:r>
            <a:b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968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8D4EBC99CE4479C5759E826728139" ma:contentTypeVersion="6" ma:contentTypeDescription="Create a new document." ma:contentTypeScope="" ma:versionID="9eb90a72c1774704d20756c37c1cce09">
  <xsd:schema xmlns:xsd="http://www.w3.org/2001/XMLSchema" xmlns:xs="http://www.w3.org/2001/XMLSchema" xmlns:p="http://schemas.microsoft.com/office/2006/metadata/properties" xmlns:ns3="cc2b98dd-a3ce-4b84-abaf-6c0c1556bdc1" targetNamespace="http://schemas.microsoft.com/office/2006/metadata/properties" ma:root="true" ma:fieldsID="d303d8e06edba7643bde68d36befcf7d" ns3:_="">
    <xsd:import namespace="cc2b98dd-a3ce-4b84-abaf-6c0c1556bdc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b98dd-a3ce-4b84-abaf-6c0c1556bd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2b98dd-a3ce-4b84-abaf-6c0c1556bdc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9A41F-61CF-49FF-8F00-D4D6121AC2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2b98dd-a3ce-4b84-abaf-6c0c1556bd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www.w3.org/XML/1998/namespace"/>
    <ds:schemaRef ds:uri="http://purl.org/dc/terms/"/>
    <ds:schemaRef ds:uri="cc2b98dd-a3ce-4b84-abaf-6c0c1556bdc1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914</TotalTime>
  <Words>552</Words>
  <Application>Microsoft Office PowerPoint</Application>
  <PresentationFormat>Widescreen</PresentationFormat>
  <Paragraphs>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Gothic</vt:lpstr>
      <vt:lpstr>Garamond</vt:lpstr>
      <vt:lpstr>Times New Roman</vt:lpstr>
      <vt:lpstr>Wingdings</vt:lpstr>
      <vt:lpstr>Savon</vt:lpstr>
      <vt:lpstr>Blood Bank Management System</vt:lpstr>
      <vt:lpstr>Agenda:</vt:lpstr>
      <vt:lpstr>Introduction</vt:lpstr>
      <vt:lpstr>Problem Statement:</vt:lpstr>
      <vt:lpstr>Objectives:</vt:lpstr>
      <vt:lpstr>Features:</vt:lpstr>
      <vt:lpstr>DFD-0 Diagram</vt:lpstr>
      <vt:lpstr>Diagram</vt:lpstr>
      <vt:lpstr>Use Case Diagram</vt:lpstr>
      <vt:lpstr>E-R Diagram</vt:lpstr>
      <vt:lpstr>Gantt Chart</vt:lpstr>
      <vt:lpstr>Platform and Tools</vt:lpstr>
      <vt:lpstr>Conclusion</vt:lpstr>
      <vt:lpstr>THANK YOU!!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Samir Poudel</dc:creator>
  <cp:lastModifiedBy>kushalprimal@gmail.com</cp:lastModifiedBy>
  <cp:revision>37</cp:revision>
  <dcterms:created xsi:type="dcterms:W3CDTF">2025-02-20T17:58:53Z</dcterms:created>
  <dcterms:modified xsi:type="dcterms:W3CDTF">2026-01-03T03:02:11Z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0x01010064A8D4EBC99CE4479C5759E826728139</vt:lpwstr>
  </property>
</Properties>
</file>